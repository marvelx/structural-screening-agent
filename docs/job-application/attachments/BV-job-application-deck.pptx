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marvelx.github.io/Structural-screening-agent/job-application/" TargetMode="External"/><Relationship Id="rId3" Type="http://schemas.openxmlformats.org/officeDocument/2006/relationships/hyperlink" Target="https://github.com/MarvelX/Structural-screening-agent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5A52"/>
                </a:solidFill>
                <a:latin typeface="Hiragino Sans GB"/>
              </a:rPr>
              <a:t>FIT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329184" cy="36576"/>
          </a:xfrm>
          <a:prstGeom prst="rect">
            <a:avLst/>
          </a:prstGeom>
          <a:solidFill>
            <a:srgbClr val="F0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68580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3374D"/>
                </a:solidFill>
                <a:latin typeface="Hiragino Sans GB"/>
              </a:rPr>
              <a:t>我是谁 / 我为什么投这个岗位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2728"/>
            <a:ext cx="99669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874"/>
                </a:solidFill>
                <a:latin typeface="Hiragino Sans GB"/>
              </a:rPr>
              <a:t>主结论：我对第三方光伏结构设计审核的理解，不只停留在岗位描述，而是已经沉淀成可展示的工作台原型。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874"/>
                </a:solidFill>
                <a:latin typeface="Arial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83080"/>
            <a:ext cx="539496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93392"/>
            <a:ext cx="20116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3374D"/>
                </a:solidFill>
                <a:latin typeface="Hiragino Sans GB"/>
              </a:rPr>
              <a:t>我是谁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40864"/>
            <a:ext cx="4800600" cy="1645920"/>
          </a:xfrm>
          <a:prstGeom prst="rect">
            <a:avLst/>
          </a:prstGeom>
          <a:noFill/>
        </p:spPr>
        <p:txBody>
          <a:bodyPr wrap="square" lIns="45720" rIns="36576" t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>
                <a:solidFill>
                  <a:srgbClr val="303D48"/>
                </a:solidFill>
                <a:latin typeface="Hiragino Sans GB"/>
              </a:rPr>
              <a:t>- 候选人信息待替换；当前投递目标聚焦 BV 光伏结构设计审核岗位。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303D48"/>
                </a:solidFill>
                <a:latin typeface="Hiragino Sans GB"/>
              </a:rPr>
              <a:t>- 把 screening / review-support 场景产品化，重视可追溯、可解释和边界声明。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303D48"/>
                </a:solidFill>
                <a:latin typeface="Hiragino Sans GB"/>
              </a:rPr>
              <a:t>- 保留 Portal Frame Rooftop PV Screening 作为首个真实技术模块。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4389120"/>
            <a:ext cx="4754880" cy="12344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4617720"/>
            <a:ext cx="4425696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3374D"/>
                </a:solidFill>
                <a:latin typeface="Hiragino Sans GB"/>
              </a:rPr>
              <a:t>我希望加入的不是一个泛 AI 岗位，而是一个真正要求工程判断、证据组织和审核责任感的技术岗位。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783080"/>
            <a:ext cx="52120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1993392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3374D"/>
                </a:solidFill>
                <a:latin typeface="Hiragino Sans GB"/>
              </a:rPr>
              <a:t>为什么投这个岗位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340864"/>
            <a:ext cx="4572000" cy="2103120"/>
          </a:xfrm>
          <a:prstGeom prst="rect">
            <a:avLst/>
          </a:prstGeom>
          <a:noFill/>
        </p:spPr>
        <p:txBody>
          <a:bodyPr wrap="square" lIns="45720" rIns="36576" t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>
                <a:solidFill>
                  <a:srgbClr val="303D48"/>
                </a:solidFill>
                <a:latin typeface="Hiragino Sans GB"/>
              </a:rPr>
              <a:t>- BV 第三方审核的核心不是“算一个值”，而是组织 review basis、资料完整性、风险与结论。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303D48"/>
                </a:solidFill>
                <a:latin typeface="Hiragino Sans GB"/>
              </a:rPr>
              <a:t>- 这个岗位要求把规范路径、缺资判断、技术边界和报告责任连接起来。</a:t>
            </a:r>
          </a:p>
          <a:p>
            <a:pPr algn="l">
              <a:lnSpc>
                <a:spcPct val="118000"/>
              </a:lnSpc>
            </a:pPr>
            <a:r>
              <a:rPr sz="1600">
                <a:solidFill>
                  <a:srgbClr val="303D48"/>
                </a:solidFill>
                <a:latin typeface="Hiragino Sans GB"/>
              </a:rPr>
              <a:t>- 我已经围绕这套职责做出工作台雏形，适合用作品而不是空话来解释匹配度。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28816" y="4956048"/>
            <a:ext cx="1353312" cy="822960"/>
          </a:xfrm>
          <a:prstGeom prst="roundRect">
            <a:avLst/>
          </a:prstGeom>
          <a:solidFill>
            <a:srgbClr val="FFF4F3"/>
          </a:solidFill>
          <a:ln w="12700">
            <a:solidFill>
              <a:srgbClr val="FF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1968" y="5084064"/>
            <a:ext cx="12070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05A52"/>
                </a:solidFill>
                <a:latin typeface="Hiragino Sans GB"/>
              </a:rPr>
              <a:t>岗位语境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1968" y="5303520"/>
            <a:ext cx="12070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03D48"/>
                </a:solidFill>
                <a:latin typeface="Hiragino Sans GB"/>
              </a:rPr>
              <a:t>结构审核，而非泛产品演示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4956048"/>
            <a:ext cx="1353312" cy="8229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4736" y="5084064"/>
            <a:ext cx="12070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3374D"/>
                </a:solidFill>
                <a:latin typeface="Hiragino Sans GB"/>
              </a:rPr>
              <a:t>产品证据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5303520"/>
            <a:ext cx="12070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03D48"/>
                </a:solidFill>
                <a:latin typeface="Hiragino Sans GB"/>
              </a:rPr>
              <a:t>4 个关键界面已可证明思路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4956048"/>
            <a:ext cx="1353312" cy="8229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7504" y="5084064"/>
            <a:ext cx="120700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23374D"/>
                </a:solidFill>
                <a:latin typeface="Hiragino Sans GB"/>
              </a:rPr>
              <a:t>交付心态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504" y="5303520"/>
            <a:ext cx="120700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03D48"/>
                </a:solidFill>
                <a:latin typeface="Hiragino Sans GB"/>
              </a:rPr>
              <a:t>先讲边界，再讲能力延伸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5A52"/>
                </a:solidFill>
                <a:latin typeface="Hiragino Sans GB"/>
              </a:rPr>
              <a:t>WORKFLOW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329184" cy="36576"/>
          </a:xfrm>
          <a:prstGeom prst="rect">
            <a:avLst/>
          </a:prstGeom>
          <a:solidFill>
            <a:srgbClr val="F0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68580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3374D"/>
                </a:solidFill>
                <a:latin typeface="Hiragino Sans GB"/>
              </a:rPr>
              <a:t>我对 BV 第三方设计审核工作流的理解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2728"/>
            <a:ext cx="99669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874"/>
                </a:solidFill>
                <a:latin typeface="Hiragino Sans GB"/>
              </a:rPr>
              <a:t>主结论：第三方审核的价值在于把 intake、依据、缺口、技术判断和报告出口串成一条可交付链，而不是只输出单点计算。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874"/>
                </a:solidFill>
                <a:latin typeface="Arial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874519"/>
            <a:ext cx="19019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93392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3374D"/>
                </a:solidFill>
                <a:latin typeface="Hiragino Sans GB"/>
              </a:rPr>
              <a:t>1. 项目 intake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40864"/>
            <a:ext cx="1682496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03D48"/>
                </a:solidFill>
                <a:latin typeface="Hiragino Sans GB"/>
              </a:rPr>
              <a:t>确认项目类型、阶段、国家/地区、审核对象和 client 要求。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15184" y="2715768"/>
            <a:ext cx="246888" cy="0"/>
          </a:xfrm>
          <a:prstGeom prst="line">
            <a:avLst/>
          </a:prstGeom>
          <a:ln w="19050">
            <a:solidFill>
              <a:srgbClr val="F05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53512" y="1874519"/>
            <a:ext cx="19019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993392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3374D"/>
                </a:solidFill>
                <a:latin typeface="Hiragino Sans GB"/>
              </a:rPr>
              <a:t>2. review basis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340864"/>
            <a:ext cx="1682496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03D48"/>
                </a:solidFill>
                <a:latin typeface="Hiragino Sans GB"/>
              </a:rPr>
              <a:t>锁定适用规范、系统边界、荷载路径与证据清单。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855464" y="2715768"/>
            <a:ext cx="246888" cy="0"/>
          </a:xfrm>
          <a:prstGeom prst="line">
            <a:avLst/>
          </a:prstGeom>
          <a:ln w="19050">
            <a:solidFill>
              <a:srgbClr val="F05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93792" y="1874519"/>
            <a:ext cx="19019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85232" y="1993392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3374D"/>
                </a:solidFill>
                <a:latin typeface="Hiragino Sans GB"/>
              </a:rPr>
              <a:t>3. completeness / ITP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340864"/>
            <a:ext cx="1682496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03D48"/>
                </a:solidFill>
                <a:latin typeface="Hiragino Sans GB"/>
              </a:rPr>
              <a:t>判断图纸、计算书、地勘、厂家资料是否足以进入复核。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95744" y="2715768"/>
            <a:ext cx="246888" cy="0"/>
          </a:xfrm>
          <a:prstGeom prst="line">
            <a:avLst/>
          </a:prstGeom>
          <a:ln w="19050">
            <a:solidFill>
              <a:srgbClr val="F05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34072" y="1874519"/>
            <a:ext cx="19019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5512" y="1993392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3374D"/>
                </a:solidFill>
                <a:latin typeface="Hiragino Sans GB"/>
              </a:rPr>
              <a:t>4. technical checks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340864"/>
            <a:ext cx="1682496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03D48"/>
                </a:solidFill>
                <a:latin typeface="Hiragino Sans GB"/>
              </a:rPr>
              <a:t>识别控制因素、关键比值、风险与澄清事项。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36024" y="2715768"/>
            <a:ext cx="246888" cy="0"/>
          </a:xfrm>
          <a:prstGeom prst="line">
            <a:avLst/>
          </a:prstGeom>
          <a:ln w="19050">
            <a:solidFill>
              <a:srgbClr val="F05A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74352" y="1874519"/>
            <a:ext cx="19019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65792" y="1993392"/>
            <a:ext cx="171907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23374D"/>
                </a:solidFill>
                <a:latin typeface="Hiragino Sans GB"/>
              </a:rPr>
              <a:t>5. report / closure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340864"/>
            <a:ext cx="1682496" cy="9509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303D48"/>
                </a:solidFill>
                <a:latin typeface="Hiragino Sans GB"/>
              </a:rPr>
              <a:t>输出结论、边界、补资动作和对外澄清路径。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" y="4005072"/>
            <a:ext cx="5303520" cy="170078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224528"/>
            <a:ext cx="201168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3374D"/>
                </a:solidFill>
                <a:latin typeface="Hiragino Sans GB"/>
              </a:rPr>
              <a:t>我理解的审核输出责任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590288"/>
            <a:ext cx="4736592" cy="822960"/>
          </a:xfrm>
          <a:prstGeom prst="rect">
            <a:avLst/>
          </a:prstGeom>
          <a:noFill/>
        </p:spPr>
        <p:txBody>
          <a:bodyPr wrap="square" lIns="45720" rIns="36576" t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>
                <a:solidFill>
                  <a:srgbClr val="303D48"/>
                </a:solidFill>
                <a:latin typeface="Hiragino Sans GB"/>
              </a:rPr>
              <a:t>- 结论必须落在 review-support 边界内，说明证据状态与后续动作。</a:t>
            </a:r>
          </a:p>
          <a:p>
            <a:pPr algn="l">
              <a:lnSpc>
                <a:spcPct val="118000"/>
              </a:lnSpc>
            </a:pPr>
            <a:r>
              <a:rPr sz="1450">
                <a:solidFill>
                  <a:srgbClr val="303D48"/>
                </a:solidFill>
                <a:latin typeface="Hiragino Sans GB"/>
              </a:rPr>
              <a:t>- 风险和不符合项要可追溯，不能靠自由文本一笔带过。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4005072"/>
            <a:ext cx="5285232" cy="1700784"/>
          </a:xfrm>
          <a:prstGeom prst="rect">
            <a:avLst/>
          </a:prstGeom>
          <a:solidFill>
            <a:srgbClr val="F4F7FA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224528"/>
            <a:ext cx="23774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3374D"/>
                </a:solidFill>
                <a:latin typeface="Hiragino Sans GB"/>
              </a:rPr>
              <a:t>这也是我适合岗位的原因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4590288"/>
            <a:ext cx="4681728" cy="859536"/>
          </a:xfrm>
          <a:prstGeom prst="rect">
            <a:avLst/>
          </a:prstGeom>
          <a:noFill/>
        </p:spPr>
        <p:txBody>
          <a:bodyPr wrap="square" lIns="45720" rIns="36576" t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450">
                <a:solidFill>
                  <a:srgbClr val="303D48"/>
                </a:solidFill>
                <a:latin typeface="Hiragino Sans GB"/>
              </a:rPr>
              <a:t>- 我会优先组织输入、依据和风险，而不是先堆结论。</a:t>
            </a:r>
          </a:p>
          <a:p>
            <a:pPr algn="l">
              <a:lnSpc>
                <a:spcPct val="118000"/>
              </a:lnSpc>
            </a:pPr>
            <a:r>
              <a:rPr sz="1450">
                <a:solidFill>
                  <a:srgbClr val="303D48"/>
                </a:solidFill>
                <a:latin typeface="Hiragino Sans GB"/>
              </a:rPr>
              <a:t>- 我接受工程审核必须保守、可解释、可移交。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5A52"/>
                </a:solidFill>
                <a:latin typeface="Hiragino Sans GB"/>
              </a:rPr>
              <a:t>PRODUCT PROOF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329184" cy="36576"/>
          </a:xfrm>
          <a:prstGeom prst="rect">
            <a:avLst/>
          </a:prstGeom>
          <a:solidFill>
            <a:srgbClr val="F0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68580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3374D"/>
                </a:solidFill>
                <a:latin typeface="Hiragino Sans GB"/>
              </a:rPr>
              <a:t>我做的产品：BV PV Design Review Workbench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2728"/>
            <a:ext cx="99669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874"/>
                </a:solidFill>
                <a:latin typeface="Hiragino Sans GB"/>
              </a:rPr>
              <a:t>主结论：这不是概念页，而是围绕审核职责拆解的产品骨架，已经具备入口、判断、追溯和导出 4 类核心界面。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874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773936"/>
            <a:ext cx="37947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975104"/>
            <a:ext cx="28346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3374D"/>
                </a:solidFill>
                <a:latin typeface="Hiragino Sans GB"/>
              </a:rPr>
              <a:t>产品定位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304288"/>
            <a:ext cx="3310128" cy="1664208"/>
          </a:xfrm>
          <a:prstGeom prst="rect">
            <a:avLst/>
          </a:prstGeom>
          <a:noFill/>
        </p:spPr>
        <p:txBody>
          <a:bodyPr wrap="square" lIns="45720" rIns="36576" t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>
                <a:solidFill>
                  <a:srgbClr val="303D48"/>
                </a:solidFill>
                <a:latin typeface="Hiragino Sans GB"/>
              </a:rPr>
              <a:t>- 面向第三方审核工程师的光伏土建、钢结构、支架、基础与既有屋面增载审核工作台。</a:t>
            </a:r>
          </a:p>
          <a:p>
            <a:pPr algn="l">
              <a:lnSpc>
                <a:spcPct val="118000"/>
              </a:lnSpc>
            </a:pPr>
            <a:r>
              <a:rPr sz="1550">
                <a:solidFill>
                  <a:srgbClr val="303D48"/>
                </a:solidFill>
                <a:latin typeface="Hiragino Sans GB"/>
              </a:rPr>
              <a:t>- 强调 deterministic kernel + evidence structure，不让 LLM 直接生成工程结论。</a:t>
            </a:r>
          </a:p>
          <a:p>
            <a:pPr algn="l">
              <a:lnSpc>
                <a:spcPct val="118000"/>
              </a:lnSpc>
            </a:pPr>
            <a:r>
              <a:rPr sz="1550">
                <a:solidFill>
                  <a:srgbClr val="303D48"/>
                </a:solidFill>
                <a:latin typeface="Hiragino Sans GB"/>
              </a:rPr>
              <a:t>- 保留现有 Portal Frame screening 能力，并在其上叠加 BV 审核层。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" y="4498848"/>
            <a:ext cx="3310128" cy="1243584"/>
          </a:xfrm>
          <a:prstGeom prst="roundRect">
            <a:avLst/>
          </a:prstGeom>
          <a:solidFill>
            <a:srgbClr val="FFF4F3"/>
          </a:solidFill>
          <a:ln w="12700">
            <a:solidFill>
              <a:srgbClr val="FF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4681728"/>
            <a:ext cx="2980944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23374D"/>
                </a:solidFill>
                <a:latin typeface="Hiragino Sans GB"/>
              </a:rPr>
              <a:t>判断逻辑要能让技术经理复核，也要能让后续报告和 client clarification 复用。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920240"/>
            <a:ext cx="292608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01184" y="2103120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3374D"/>
                </a:solidFill>
                <a:latin typeface="Hiragino Sans GB"/>
              </a:rPr>
              <a:t>BV 审核总览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01184" y="2450592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03D48"/>
                </a:solidFill>
                <a:latin typeface="Hiragino Sans GB"/>
              </a:rPr>
              <a:t>组织项目范围、资料完整性、ITP 与风险入口。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12864" y="2084832"/>
            <a:ext cx="530352" cy="219456"/>
          </a:xfrm>
          <a:prstGeom prst="roundRect">
            <a:avLst/>
          </a:prstGeom>
          <a:solidFill>
            <a:srgbClr val="FFF4F3"/>
          </a:solidFill>
          <a:ln w="12700">
            <a:solidFill>
              <a:srgbClr val="FF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0296" y="2093976"/>
            <a:ext cx="475488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F05A52"/>
                </a:solidFill>
                <a:latin typeface="Hiragino Sans GB"/>
              </a:rPr>
              <a:t>已展示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920240"/>
            <a:ext cx="292608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21624" y="2103120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3374D"/>
                </a:solidFill>
                <a:latin typeface="Hiragino Sans GB"/>
              </a:rPr>
              <a:t>评估结论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2450592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03D48"/>
                </a:solidFill>
                <a:latin typeface="Hiragino Sans GB"/>
              </a:rPr>
              <a:t>汇总控制因素、关键比值、证据状态与继续条件。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433304" y="2084832"/>
            <a:ext cx="530352" cy="219456"/>
          </a:xfrm>
          <a:prstGeom prst="roundRect">
            <a:avLst/>
          </a:prstGeom>
          <a:solidFill>
            <a:srgbClr val="FFF4F3"/>
          </a:solidFill>
          <a:ln w="12700">
            <a:solidFill>
              <a:srgbClr val="FF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0736" y="2093976"/>
            <a:ext cx="475488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F05A52"/>
                </a:solidFill>
                <a:latin typeface="Hiragino Sans GB"/>
              </a:rPr>
              <a:t>已展示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4160520"/>
            <a:ext cx="292608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01184" y="4343400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3374D"/>
                </a:solidFill>
                <a:latin typeface="Hiragino Sans GB"/>
              </a:rPr>
              <a:t>依据与追溯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1184" y="4690872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03D48"/>
                </a:solidFill>
                <a:latin typeface="Hiragino Sans GB"/>
              </a:rPr>
              <a:t>把输入、规范路径和判断依据显性化。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12864" y="4325112"/>
            <a:ext cx="530352" cy="219456"/>
          </a:xfrm>
          <a:prstGeom prst="roundRect">
            <a:avLst/>
          </a:prstGeom>
          <a:solidFill>
            <a:srgbClr val="FFF4F3"/>
          </a:solidFill>
          <a:ln w="12700">
            <a:solidFill>
              <a:srgbClr val="FF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0296" y="4334256"/>
            <a:ext cx="475488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F05A52"/>
                </a:solidFill>
                <a:latin typeface="Hiragino Sans GB"/>
              </a:rPr>
              <a:t>已展示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4160520"/>
            <a:ext cx="2926080" cy="17007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21624" y="4343400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23374D"/>
                </a:solidFill>
                <a:latin typeface="Hiragino Sans GB"/>
              </a:rPr>
              <a:t>报告导出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21624" y="4690872"/>
            <a:ext cx="257860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03D48"/>
                </a:solidFill>
                <a:latin typeface="Hiragino Sans GB"/>
              </a:rPr>
              <a:t>沉淀中英双语报告输出与边界说明。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33304" y="4325112"/>
            <a:ext cx="530352" cy="219456"/>
          </a:xfrm>
          <a:prstGeom prst="roundRect">
            <a:avLst/>
          </a:prstGeom>
          <a:solidFill>
            <a:srgbClr val="FFF4F3"/>
          </a:solidFill>
          <a:ln w="12700">
            <a:solidFill>
              <a:srgbClr val="FF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460736" y="4334256"/>
            <a:ext cx="475488" cy="1188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>
                <a:solidFill>
                  <a:srgbClr val="F05A52"/>
                </a:solidFill>
                <a:latin typeface="Hiragino Sans GB"/>
              </a:rPr>
              <a:t>已展示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5A52"/>
                </a:solidFill>
                <a:latin typeface="Hiragino Sans GB"/>
              </a:rPr>
              <a:t>JD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329184" cy="36576"/>
          </a:xfrm>
          <a:prstGeom prst="rect">
            <a:avLst/>
          </a:prstGeom>
          <a:solidFill>
            <a:srgbClr val="F0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68580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3374D"/>
                </a:solidFill>
                <a:latin typeface="Hiragino Sans GB"/>
              </a:rPr>
              <a:t>产品模块与 JD 职责映射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2728"/>
            <a:ext cx="99669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874"/>
                </a:solidFill>
                <a:latin typeface="Hiragino Sans GB"/>
              </a:rPr>
              <a:t>主结论：当前产品已覆盖审核准备、依据追溯、技术筛查和报告出口的骨架，但还需要向多结构体系和流程协同继续扩展。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874"/>
                </a:solidFill>
                <a:latin typeface="Arial"/>
              </a:rPr>
              <a:t>04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874519"/>
          <a:ext cx="107442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834640"/>
                <a:gridCol w="2377440"/>
                <a:gridCol w="3383280"/>
              </a:tblGrid>
              <a:tr h="701040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3374D"/>
                          </a:solidFill>
                          <a:latin typeface="Hiragino Sans GB"/>
                        </a:rPr>
                        <a:t>JD 职责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3374D"/>
                          </a:solidFill>
                          <a:latin typeface="Hiragino Sans GB"/>
                        </a:rPr>
                        <a:t>当前产品模块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3374D"/>
                          </a:solidFill>
                          <a:latin typeface="Hiragino Sans GB"/>
                        </a:rPr>
                        <a:t>当前覆盖度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3374D"/>
                          </a:solidFill>
                          <a:latin typeface="Hiragino Sans GB"/>
                        </a:rPr>
                        <a:t>下一步补强</a:t>
                      </a:r>
                    </a:p>
                  </a:txBody>
                  <a:tcPr marL="54864" marR="54864" marT="36576" marB="36576">
                    <a:solidFill>
                      <a:srgbClr val="F4F7FA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项目 intake / 审核准备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BV 审核总览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已展示设计阶段、地区、资料完整性、对象范围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加入项目分级、审查委派与版本基线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review basis / 规范路径</a:t>
                      </a:r>
                    </a:p>
                  </a:txBody>
                  <a:tcPr marL="54864" marR="54864" marT="36576" marB="36576">
                    <a:solidFill>
                      <a:srgbClr val="FF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依据与追溯</a:t>
                      </a:r>
                    </a:p>
                  </a:txBody>
                  <a:tcPr marL="54864" marR="54864" marT="36576" marB="36576">
                    <a:solidFill>
                      <a:srgbClr val="FF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已展示 GB / IEC 路径和输入追踪</a:t>
                      </a:r>
                    </a:p>
                  </a:txBody>
                  <a:tcPr marL="54864" marR="54864" marT="36576" marB="36576">
                    <a:solidFill>
                      <a:srgbClr val="FF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扩到 AS/NZS、Eurocode 与客户规范矩阵</a:t>
                      </a:r>
                    </a:p>
                  </a:txBody>
                  <a:tcPr marL="54864" marR="54864" marT="36576" marB="36576">
                    <a:solidFill>
                      <a:srgbClr val="FFF4F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technical checks / 控制因素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Portal Frame Screening + 评估结论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已有确定性筛查结论与控制因素表达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扩充更多结构体系与 load case 组合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risk register / 不符合项</a:t>
                      </a:r>
                    </a:p>
                  </a:txBody>
                  <a:tcPr marL="54864" marR="54864" marT="36576" marB="36576">
                    <a:solidFill>
                      <a:srgbClr val="FF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BV 审核总览</a:t>
                      </a:r>
                    </a:p>
                  </a:txBody>
                  <a:tcPr marL="54864" marR="54864" marT="36576" marB="36576">
                    <a:solidFill>
                      <a:srgbClr val="FF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已能把缺资、阻塞项和风险显性化</a:t>
                      </a:r>
                    </a:p>
                  </a:txBody>
                  <a:tcPr marL="54864" marR="54864" marT="36576" marB="36576">
                    <a:solidFill>
                      <a:srgbClr val="FFF4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补充责任人、闭环状态和澄清记录</a:t>
                      </a:r>
                    </a:p>
                  </a:txBody>
                  <a:tcPr marL="54864" marR="54864" marT="36576" marB="36576">
                    <a:solidFill>
                      <a:srgbClr val="FFF4F3"/>
                    </a:solidFill>
                  </a:tcPr>
                </a:tc>
              </a:tr>
              <a:tr h="7010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report export / client clarification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报告导出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已具备中英双语导出思路与边界说明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03D48"/>
                          </a:solidFill>
                          <a:latin typeface="Hiragino Sans GB"/>
                        </a:rPr>
                        <a:t>补强审签流转、附件清单和对外澄清模板</a:t>
                      </a: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13232" y="6236208"/>
            <a:ext cx="10744200" cy="32918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6291072"/>
            <a:ext cx="1024128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874"/>
                </a:solidFill>
                <a:latin typeface="Hiragino Sans GB"/>
              </a:rPr>
              <a:t>判断口径：当前 deck 证明的是“岗位理解 + 产品化方向 + 首个真实模块”，不是宣称已覆盖完整 BV 审签体系。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5A52"/>
                </a:solidFill>
                <a:latin typeface="Hiragino Sans GB"/>
              </a:rPr>
              <a:t>UI EVIDENCE A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329184" cy="36576"/>
          </a:xfrm>
          <a:prstGeom prst="rect">
            <a:avLst/>
          </a:prstGeom>
          <a:solidFill>
            <a:srgbClr val="F0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68580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3374D"/>
                </a:solidFill>
                <a:latin typeface="Hiragino Sans GB"/>
              </a:rPr>
              <a:t>关键界面：BV 审核总览 / 评估结论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2728"/>
            <a:ext cx="99669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874"/>
                </a:solidFill>
                <a:latin typeface="Hiragino Sans GB"/>
              </a:rPr>
              <a:t>主结论：我已经把“先组织审核输入，再表达技术判断”的工作流做成了两张关键界面，而不是只做了单页 demo。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874"/>
                </a:solidFill>
                <a:latin typeface="Arial"/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47088"/>
            <a:ext cx="5358384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v-review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56816"/>
            <a:ext cx="5138928" cy="34107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5477256"/>
            <a:ext cx="5138928" cy="5120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956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374D"/>
                </a:solidFill>
                <a:latin typeface="Hiragino Sans GB"/>
              </a:rPr>
              <a:t>BV 审核总览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4956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874"/>
                </a:solidFill>
                <a:latin typeface="Hiragino Sans GB"/>
              </a:rPr>
              <a:t>先判定资料完整性、审核对象和阻塞项，再进入技术复核。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47088"/>
            <a:ext cx="53035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ssessment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956816"/>
            <a:ext cx="5084064" cy="34107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81928" y="5477256"/>
            <a:ext cx="5084064" cy="5120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5532120"/>
            <a:ext cx="490118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374D"/>
                </a:solidFill>
                <a:latin typeface="Hiragino Sans GB"/>
              </a:rPr>
              <a:t>评估结论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5742432"/>
            <a:ext cx="490118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874"/>
                </a:solidFill>
                <a:latin typeface="Hiragino Sans GB"/>
              </a:rPr>
              <a:t>把控制因素、关键比值和证据状态组织成技术经理可快速扫读的视图。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6236208"/>
            <a:ext cx="10762488" cy="329184"/>
          </a:xfrm>
          <a:prstGeom prst="rect">
            <a:avLst/>
          </a:prstGeom>
          <a:solidFill>
            <a:srgbClr val="FFF4F3"/>
          </a:solidFill>
          <a:ln w="12700">
            <a:solidFill>
              <a:srgbClr val="FF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6291072"/>
            <a:ext cx="1024128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05A52"/>
                </a:solidFill>
                <a:latin typeface="Hiragino Sans GB"/>
              </a:rPr>
              <a:t>对应 JD 价值：资料完整性判断、风险前置、控制因素归纳、继续/暂停条件表达。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5A52"/>
                </a:solidFill>
                <a:latin typeface="Hiragino Sans GB"/>
              </a:rPr>
              <a:t>UI EVIDENCE B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329184" cy="36576"/>
          </a:xfrm>
          <a:prstGeom prst="rect">
            <a:avLst/>
          </a:prstGeom>
          <a:solidFill>
            <a:srgbClr val="F0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68580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3374D"/>
                </a:solidFill>
                <a:latin typeface="Hiragino Sans GB"/>
              </a:rPr>
              <a:t>关键界面：依据与追溯 / 报告导出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2728"/>
            <a:ext cx="99669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874"/>
                </a:solidFill>
                <a:latin typeface="Hiragino Sans GB"/>
              </a:rPr>
              <a:t>主结论：我没有把结论做成黑箱；依据追溯和报告导出说明，我理解审核结论必须可回看、可引用、可对外表达。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874"/>
                </a:solidFill>
                <a:latin typeface="Arial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47088"/>
            <a:ext cx="5358384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basis-trace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56816"/>
            <a:ext cx="5138928" cy="341071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822960" y="5477256"/>
            <a:ext cx="5138928" cy="5120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32120"/>
            <a:ext cx="495604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374D"/>
                </a:solidFill>
                <a:latin typeface="Hiragino Sans GB"/>
              </a:rPr>
              <a:t>依据与追溯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42432"/>
            <a:ext cx="495604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874"/>
                </a:solidFill>
                <a:latin typeface="Hiragino Sans GB"/>
              </a:rPr>
              <a:t>把输入参数、规范路径和控制逻辑显性化，支撑复核和交接。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47088"/>
            <a:ext cx="530352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port-expo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956816"/>
            <a:ext cx="5084064" cy="341071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81928" y="5477256"/>
            <a:ext cx="5084064" cy="512064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5532120"/>
            <a:ext cx="4901183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3374D"/>
                </a:solidFill>
                <a:latin typeface="Hiragino Sans GB"/>
              </a:rPr>
              <a:t>报告导出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5742432"/>
            <a:ext cx="4901183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874"/>
                </a:solidFill>
                <a:latin typeface="Hiragino Sans GB"/>
              </a:rPr>
              <a:t>把范围、边界、关键结果和下一步动作组织成可导出的正式表达。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3232" y="6236208"/>
            <a:ext cx="10762488" cy="329184"/>
          </a:xfrm>
          <a:prstGeom prst="rect">
            <a:avLst/>
          </a:prstGeom>
          <a:solidFill>
            <a:srgbClr val="FFF4F3"/>
          </a:solidFill>
          <a:ln w="12700">
            <a:solidFill>
              <a:srgbClr val="FF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6291072"/>
            <a:ext cx="10241280" cy="1097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05A52"/>
                </a:solidFill>
                <a:latin typeface="Hiragino Sans GB"/>
              </a:rPr>
              <a:t>对应 JD 价值：review basis 透明、traceability、report deliverable 与 client clarification 起点。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5A52"/>
                </a:solidFill>
                <a:latin typeface="Hiragino Sans GB"/>
              </a:rPr>
              <a:t>BOUNDARY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329184" cy="36576"/>
          </a:xfrm>
          <a:prstGeom prst="rect">
            <a:avLst/>
          </a:prstGeom>
          <a:solidFill>
            <a:srgbClr val="F0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68580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3374D"/>
                </a:solidFill>
                <a:latin typeface="Hiragino Sans GB"/>
              </a:rPr>
              <a:t>当前边界与下一步补强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2728"/>
            <a:ext cx="99669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874"/>
                </a:solidFill>
                <a:latin typeface="Hiragino Sans GB"/>
              </a:rPr>
              <a:t>主结论：我会主动讲清系统边界，同时给出下一步补强路径；这比把原型包装成“万能审核系统”更符合工程审核语境。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874"/>
                </a:solidFill>
                <a:latin typeface="Arial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28800"/>
            <a:ext cx="525780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29968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3374D"/>
                </a:solidFill>
                <a:latin typeface="Hiragino Sans GB"/>
              </a:rPr>
              <a:t>当前边界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4645152" cy="1828800"/>
          </a:xfrm>
          <a:prstGeom prst="rect">
            <a:avLst/>
          </a:prstGeom>
          <a:noFill/>
        </p:spPr>
        <p:txBody>
          <a:bodyPr wrap="square" lIns="45720" rIns="36576" t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>
                <a:solidFill>
                  <a:srgbClr val="303D48"/>
                </a:solidFill>
                <a:latin typeface="Hiragino Sans GB"/>
              </a:rPr>
              <a:t>- 定位严格限定为 screening / review-support level，不替代正式设计、签章或有限元分析。</a:t>
            </a:r>
          </a:p>
          <a:p>
            <a:pPr algn="l">
              <a:lnSpc>
                <a:spcPct val="118000"/>
              </a:lnSpc>
            </a:pPr>
            <a:r>
              <a:rPr sz="1550">
                <a:solidFill>
                  <a:srgbClr val="303D48"/>
                </a:solidFill>
                <a:latin typeface="Hiragino Sans GB"/>
              </a:rPr>
              <a:t>- 首个真实技术模块聚焦门式刚架既有屋面光伏增载场景。</a:t>
            </a:r>
          </a:p>
          <a:p>
            <a:pPr algn="l">
              <a:lnSpc>
                <a:spcPct val="118000"/>
              </a:lnSpc>
            </a:pPr>
            <a:r>
              <a:rPr sz="1550">
                <a:solidFill>
                  <a:srgbClr val="303D48"/>
                </a:solidFill>
                <a:latin typeface="Hiragino Sans GB"/>
              </a:rPr>
              <a:t>- 当前演示更强于“审核结构与表达”，弱于“全流程组织协同”。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" y="4882896"/>
            <a:ext cx="4645152" cy="1042415"/>
          </a:xfrm>
          <a:prstGeom prst="roundRect">
            <a:avLst/>
          </a:prstGeom>
          <a:solidFill>
            <a:srgbClr val="FFF4F3"/>
          </a:solidFill>
          <a:ln w="12700">
            <a:solidFill>
              <a:srgbClr val="FF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" y="5074920"/>
            <a:ext cx="435254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05A52"/>
                </a:solidFill>
                <a:latin typeface="Hiragino Sans GB"/>
              </a:rPr>
              <a:t>我不会声称这个产品已经覆盖正式 BV 签发流程，这个边界本身就是专业判断的一部分。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828800"/>
            <a:ext cx="5303520" cy="4434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73368" y="2029968"/>
            <a:ext cx="2743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3374D"/>
                </a:solidFill>
                <a:latin typeface="Hiragino Sans GB"/>
              </a:rPr>
              <a:t>下一步补强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395728"/>
            <a:ext cx="4681728" cy="2011680"/>
          </a:xfrm>
          <a:prstGeom prst="rect">
            <a:avLst/>
          </a:prstGeom>
          <a:noFill/>
        </p:spPr>
        <p:txBody>
          <a:bodyPr wrap="square" lIns="45720" rIns="36576" t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520">
                <a:solidFill>
                  <a:srgbClr val="303D48"/>
                </a:solidFill>
                <a:latin typeface="Hiragino Sans GB"/>
              </a:rPr>
              <a:t>- 扩展多结构体系：支架、基础、地面电站子系统和更多 code path。</a:t>
            </a:r>
          </a:p>
          <a:p>
            <a:pPr algn="l">
              <a:lnSpc>
                <a:spcPct val="118000"/>
              </a:lnSpc>
            </a:pPr>
            <a:r>
              <a:rPr sz="1520">
                <a:solidFill>
                  <a:srgbClr val="303D48"/>
                </a:solidFill>
                <a:latin typeface="Hiragino Sans GB"/>
              </a:rPr>
              <a:t>- 补充项目协同：review basis 版本、clarification log、risk register 闭环。</a:t>
            </a:r>
          </a:p>
          <a:p>
            <a:pPr algn="l">
              <a:lnSpc>
                <a:spcPct val="118000"/>
              </a:lnSpc>
            </a:pPr>
            <a:r>
              <a:rPr sz="1520">
                <a:solidFill>
                  <a:srgbClr val="303D48"/>
                </a:solidFill>
                <a:latin typeface="Hiragino Sans GB"/>
              </a:rPr>
              <a:t>- 完善质量体系接口：ITP、模板化报告、附件与审查轨迹。</a:t>
            </a:r>
          </a:p>
          <a:p>
            <a:pPr algn="l">
              <a:lnSpc>
                <a:spcPct val="118000"/>
              </a:lnSpc>
            </a:pPr>
            <a:r>
              <a:rPr sz="1520">
                <a:solidFill>
                  <a:srgbClr val="303D48"/>
                </a:solidFill>
                <a:latin typeface="Hiragino Sans GB"/>
              </a:rPr>
              <a:t>- 逐步引入可控的人机协作层，但继续保持 deterministic conclusion discipline。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73368" y="4974336"/>
            <a:ext cx="4681728" cy="768096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5175504"/>
            <a:ext cx="4407408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20" b="1">
                <a:solidFill>
                  <a:srgbClr val="23374D"/>
                </a:solidFill>
                <a:latin typeface="Hiragino Sans GB"/>
              </a:rPr>
              <a:t>这也是我加入后最想继续推进的产品化方向。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29260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F05A52"/>
                </a:solidFill>
                <a:latin typeface="Hiragino Sans GB"/>
              </a:rPr>
              <a:t>CONTACT LINKS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576072"/>
            <a:ext cx="329184" cy="36576"/>
          </a:xfrm>
          <a:prstGeom prst="rect">
            <a:avLst/>
          </a:prstGeom>
          <a:solidFill>
            <a:srgbClr val="F05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713232"/>
            <a:ext cx="6858000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23374D"/>
                </a:solidFill>
                <a:latin typeface="Hiragino Sans GB"/>
              </a:rPr>
              <a:t>联系方式 / 公开链接 /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52728"/>
            <a:ext cx="99669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5C6874"/>
                </a:solidFill>
                <a:latin typeface="Hiragino Sans GB"/>
              </a:rPr>
              <a:t>主结论：这份 deck 的目标是让技术评审可以继续点开页面和仓库验证，而不是停留在一份自述。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65408" y="6419088"/>
            <a:ext cx="4114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C6874"/>
                </a:solidFill>
                <a:latin typeface="Arial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10512"/>
            <a:ext cx="3703320" cy="4498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22860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3374D"/>
                </a:solidFill>
                <a:latin typeface="Hiragino Sans GB"/>
              </a:rPr>
              <a:t>联系方式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377440"/>
            <a:ext cx="3154680" cy="1325880"/>
          </a:xfrm>
          <a:prstGeom prst="rect">
            <a:avLst/>
          </a:prstGeom>
          <a:noFill/>
        </p:spPr>
        <p:txBody>
          <a:bodyPr wrap="square" lIns="45720" rIns="36576" t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550">
                <a:solidFill>
                  <a:srgbClr val="303D48"/>
                </a:solidFill>
                <a:latin typeface="Hiragino Sans GB"/>
              </a:rPr>
              <a:t>- 姓名：候选人信息待替换</a:t>
            </a:r>
          </a:p>
          <a:p>
            <a:pPr algn="l">
              <a:lnSpc>
                <a:spcPct val="118000"/>
              </a:lnSpc>
            </a:pPr>
            <a:r>
              <a:rPr sz="1550">
                <a:solidFill>
                  <a:srgbClr val="303D48"/>
                </a:solidFill>
                <a:latin typeface="Hiragino Sans GB"/>
              </a:rPr>
              <a:t>- 邮箱 / 电话：正式投递版补充</a:t>
            </a:r>
          </a:p>
          <a:p>
            <a:pPr algn="l">
              <a:lnSpc>
                <a:spcPct val="118000"/>
              </a:lnSpc>
            </a:pPr>
            <a:r>
              <a:rPr sz="1550">
                <a:solidFill>
                  <a:srgbClr val="303D48"/>
                </a:solidFill>
                <a:latin typeface="Hiragino Sans GB"/>
              </a:rPr>
              <a:t>- 当前公开身份：GitHub @MarvelX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" y="4315968"/>
            <a:ext cx="3154680" cy="129844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526280"/>
            <a:ext cx="28346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>
                <a:solidFill>
                  <a:srgbClr val="23374D"/>
                </a:solidFill>
                <a:latin typeface="Hiragino Sans GB"/>
              </a:rPr>
              <a:t>建议技术评审先看公开展示页，再进仓库与测试文件确认交付物和能力边界。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36592" y="1810512"/>
            <a:ext cx="6739128" cy="4498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2011680"/>
            <a:ext cx="2194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3374D"/>
                </a:solidFill>
                <a:latin typeface="Hiragino Sans GB"/>
              </a:rPr>
              <a:t>公开链接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56048" y="2450592"/>
            <a:ext cx="6272784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8928" y="2569464"/>
            <a:ext cx="12801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05A52"/>
                </a:solidFill>
                <a:latin typeface="Hiragino Sans GB"/>
              </a:rPr>
              <a:t>公开展示页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60320"/>
            <a:ext cx="459028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03D48"/>
                </a:solidFill>
                <a:latin typeface="Hiragino Sans GB"/>
                <a:hlinkClick r:id="rId2"/>
              </a:rPr>
              <a:t>https://marvelx.github.io/Structural-screening-agent/job-application/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56048" y="3364992"/>
            <a:ext cx="6272784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38928" y="3483864"/>
            <a:ext cx="12801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05A52"/>
                </a:solidFill>
                <a:latin typeface="Hiragino Sans GB"/>
              </a:rPr>
              <a:t>GitHub 仓库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474720"/>
            <a:ext cx="459028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03D48"/>
                </a:solidFill>
                <a:latin typeface="Hiragino Sans GB"/>
                <a:hlinkClick r:id="rId3"/>
              </a:rPr>
              <a:t>https://github.com/MarvelX/Structural-screening-agent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56048" y="4279392"/>
            <a:ext cx="6272784" cy="73152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38928" y="4398264"/>
            <a:ext cx="128016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374D"/>
                </a:solidFill>
                <a:latin typeface="Hiragino Sans GB"/>
              </a:rPr>
              <a:t>Job Application 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4389120"/>
            <a:ext cx="459028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80" b="0">
                <a:solidFill>
                  <a:srgbClr val="303D48"/>
                </a:solidFill>
                <a:latin typeface="Hiragino Sans GB"/>
              </a:rPr>
              <a:t>docs/job-application/index.html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956048" y="5321808"/>
            <a:ext cx="6272784" cy="420624"/>
          </a:xfrm>
          <a:prstGeom prst="rect">
            <a:avLst/>
          </a:prstGeom>
          <a:solidFill>
            <a:srgbClr val="FFF4F3"/>
          </a:solidFill>
          <a:ln w="12700">
            <a:solidFill>
              <a:srgbClr val="FFF4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5404104"/>
            <a:ext cx="576072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05A52"/>
                </a:solidFill>
                <a:latin typeface="Hiragino Sans GB"/>
              </a:rPr>
              <a:t>GitHub 既是公开链接，也是最直接的工程能力证据来源。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BV Job Application Deck</dc:title>
  <dc:subject>BV PV Design Review Workbench</dc:subject>
  <dc:creator>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